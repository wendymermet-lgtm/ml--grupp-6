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2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F9B752-3045-449A-9D44-DBF197B4B623}" type="datetimeFigureOut">
              <a:rPr lang="sv-SE" smtClean="0"/>
              <a:t>2026-03-19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9958FB-49D6-4FF8-84A6-CB50CB46CA6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02310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Katja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958FB-49D6-4FF8-84A6-CB50CB46CA60}" type="slidenum">
              <a:rPr lang="sv-SE" smtClean="0"/>
              <a:t>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709099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Katja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958FB-49D6-4FF8-84A6-CB50CB46CA60}" type="slidenum">
              <a:rPr lang="sv-SE" smtClean="0"/>
              <a:t>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83668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Wendy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958FB-49D6-4FF8-84A6-CB50CB46CA60}" type="slidenum">
              <a:rPr lang="sv-SE" smtClean="0"/>
              <a:t>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208805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err="1"/>
              <a:t>Elza</a:t>
            </a:r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958FB-49D6-4FF8-84A6-CB50CB46CA60}" type="slidenum">
              <a:rPr lang="sv-SE" smtClean="0"/>
              <a:t>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066825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Kevin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958FB-49D6-4FF8-84A6-CB50CB46CA60}" type="slidenum">
              <a:rPr lang="sv-SE" smtClean="0"/>
              <a:t>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116936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err="1"/>
              <a:t>Dariel</a:t>
            </a:r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958FB-49D6-4FF8-84A6-CB50CB46CA60}" type="slidenum">
              <a:rPr lang="sv-SE" smtClean="0"/>
              <a:t>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163544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Tim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958FB-49D6-4FF8-84A6-CB50CB46CA60}" type="slidenum">
              <a:rPr lang="sv-SE" smtClean="0"/>
              <a:t>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870411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Tim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958FB-49D6-4FF8-84A6-CB50CB46CA60}" type="slidenum">
              <a:rPr lang="sv-SE" smtClean="0"/>
              <a:t>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8911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296A3-D166-4144-BC67-48A131CA71BC}" type="datetimeFigureOut">
              <a:rPr lang="sv-SE" smtClean="0"/>
              <a:t>2026-03-19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448E-808A-400E-829D-10E754E077A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049127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296A3-D166-4144-BC67-48A131CA71BC}" type="datetimeFigureOut">
              <a:rPr lang="sv-SE" smtClean="0"/>
              <a:t>2026-03-19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448E-808A-400E-829D-10E754E077A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12177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296A3-D166-4144-BC67-48A131CA71BC}" type="datetimeFigureOut">
              <a:rPr lang="sv-SE" smtClean="0"/>
              <a:t>2026-03-19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448E-808A-400E-829D-10E754E077A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505953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296A3-D166-4144-BC67-48A131CA71BC}" type="datetimeFigureOut">
              <a:rPr lang="sv-SE" smtClean="0"/>
              <a:t>2026-03-19</a:t>
            </a:fld>
            <a:endParaRPr lang="sv-SE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448E-808A-400E-829D-10E754E077A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54109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296A3-D166-4144-BC67-48A131CA71BC}" type="datetimeFigureOut">
              <a:rPr lang="sv-SE" smtClean="0"/>
              <a:t>2026-03-19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448E-808A-400E-829D-10E754E077AC}" type="slidenum">
              <a:rPr lang="sv-SE" smtClean="0"/>
              <a:t>‹#›</a:t>
            </a:fld>
            <a:endParaRPr lang="sv-SE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782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296A3-D166-4144-BC67-48A131CA71BC}" type="datetimeFigureOut">
              <a:rPr lang="sv-SE" smtClean="0"/>
              <a:t>2026-03-19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448E-808A-400E-829D-10E754E077A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048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296A3-D166-4144-BC67-48A131CA71BC}" type="datetimeFigureOut">
              <a:rPr lang="sv-SE" smtClean="0"/>
              <a:t>2026-03-19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448E-808A-400E-829D-10E754E077A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02106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296A3-D166-4144-BC67-48A131CA71BC}" type="datetimeFigureOut">
              <a:rPr lang="sv-SE" smtClean="0"/>
              <a:t>2026-03-19</a:t>
            </a:fld>
            <a:endParaRPr lang="sv-SE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sv-SE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448E-808A-400E-829D-10E754E077A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3817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99F296A3-D166-4144-BC67-48A131CA71BC}" type="datetimeFigureOut">
              <a:rPr lang="sv-SE" smtClean="0"/>
              <a:t>2026-03-19</a:t>
            </a:fld>
            <a:endParaRPr lang="sv-SE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sv-SE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448E-808A-400E-829D-10E754E077A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38624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296A3-D166-4144-BC67-48A131CA71BC}" type="datetimeFigureOut">
              <a:rPr lang="sv-SE" smtClean="0"/>
              <a:t>2026-03-19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448E-808A-400E-829D-10E754E077A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61343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296A3-D166-4144-BC67-48A131CA71BC}" type="datetimeFigureOut">
              <a:rPr lang="sv-SE" smtClean="0"/>
              <a:t>2026-03-19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448E-808A-400E-829D-10E754E077A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54217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99F296A3-D166-4144-BC67-48A131CA71BC}" type="datetimeFigureOut">
              <a:rPr lang="sv-SE" smtClean="0"/>
              <a:t>2026-03-19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3179448E-808A-400E-829D-10E754E077A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47940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5E01ABB-16FE-E806-378C-289D9C3DD9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2167669"/>
            <a:ext cx="8991600" cy="1645920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Fraud Detection Model – Marketplace Safety</a:t>
            </a:r>
            <a:br>
              <a:rPr lang="en-US" b="1" dirty="0"/>
            </a:br>
            <a:r>
              <a:rPr lang="sv-SE" sz="2700" dirty="0">
                <a:latin typeface="+mn-lt"/>
              </a:rPr>
              <a:t>Modellering, utvärdering och prioritering av misstänkta annonser</a:t>
            </a:r>
            <a:br>
              <a:rPr lang="en-US" b="1" dirty="0"/>
            </a:br>
            <a:endParaRPr lang="sv-SE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1A771A9D-7443-80D8-A0EA-E96FE3ACDA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nb-NO" b="1" dirty="0"/>
              <a:t>Presenter: </a:t>
            </a:r>
            <a:r>
              <a:rPr lang="nb-NO" dirty="0" err="1"/>
              <a:t>Dariel</a:t>
            </a:r>
            <a:r>
              <a:rPr lang="nb-NO" dirty="0"/>
              <a:t> </a:t>
            </a:r>
            <a:r>
              <a:rPr lang="nb-NO" dirty="0" err="1"/>
              <a:t>Riera</a:t>
            </a:r>
            <a:r>
              <a:rPr lang="nb-NO" dirty="0"/>
              <a:t> </a:t>
            </a:r>
            <a:r>
              <a:rPr lang="nb-NO" dirty="0" err="1"/>
              <a:t>Carrilo</a:t>
            </a:r>
            <a:r>
              <a:rPr lang="nb-NO" dirty="0"/>
              <a:t>, </a:t>
            </a:r>
            <a:r>
              <a:rPr lang="nb-NO" dirty="0" err="1"/>
              <a:t>Elza</a:t>
            </a:r>
            <a:r>
              <a:rPr lang="nb-NO" dirty="0"/>
              <a:t> </a:t>
            </a:r>
            <a:r>
              <a:rPr lang="nb-NO" dirty="0" err="1"/>
              <a:t>Capar</a:t>
            </a:r>
            <a:r>
              <a:rPr lang="nb-NO" dirty="0"/>
              <a:t>, Katja </a:t>
            </a:r>
            <a:r>
              <a:rPr lang="nb-NO" dirty="0" err="1"/>
              <a:t>Drugg</a:t>
            </a:r>
            <a:r>
              <a:rPr lang="nb-NO" dirty="0"/>
              <a:t>, Kevin Johansson, Tim Rydén, Wendy </a:t>
            </a:r>
            <a:r>
              <a:rPr lang="nb-NO" dirty="0" err="1"/>
              <a:t>Mermet</a:t>
            </a:r>
            <a:br>
              <a:rPr lang="nb-NO" b="1" dirty="0"/>
            </a:br>
            <a:r>
              <a:rPr lang="nb-NO" b="1" dirty="0"/>
              <a:t>Datum: </a:t>
            </a:r>
            <a:r>
              <a:rPr lang="nb-NO" dirty="0"/>
              <a:t>19 Mars 2026</a:t>
            </a:r>
          </a:p>
        </p:txBody>
      </p:sp>
    </p:spTree>
    <p:extLst>
      <p:ext uri="{BB962C8B-B14F-4D97-AF65-F5344CB8AC3E}">
        <p14:creationId xmlns:p14="http://schemas.microsoft.com/office/powerpoint/2010/main" val="44767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915D226-1162-C734-9394-5ADEE252E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81" y="2708804"/>
            <a:ext cx="3698803" cy="1440394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sv-SE" sz="2400">
                <a:solidFill>
                  <a:schemeClr val="tx1"/>
                </a:solidFill>
              </a:rPr>
              <a:t>Företaget, problemet &amp; kravkort	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061" y="-2"/>
            <a:ext cx="6876939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3D385FCA-E381-628C-803C-4134EBCE2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9182" y="802638"/>
            <a:ext cx="5408696" cy="525272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sv-SE" b="1" dirty="0">
                <a:solidFill>
                  <a:schemeClr val="bg1"/>
                </a:solidFill>
              </a:rPr>
              <a:t>Företag: </a:t>
            </a:r>
            <a:r>
              <a:rPr lang="sv-SE" dirty="0">
                <a:solidFill>
                  <a:schemeClr val="bg1"/>
                </a:solidFill>
              </a:rPr>
              <a:t>Marketplace‑plattform</a:t>
            </a:r>
            <a:br>
              <a:rPr lang="sv-SE" b="1" dirty="0">
                <a:solidFill>
                  <a:schemeClr val="bg1"/>
                </a:solidFill>
              </a:rPr>
            </a:br>
            <a:r>
              <a:rPr lang="sv-SE" b="1" dirty="0">
                <a:solidFill>
                  <a:schemeClr val="bg1"/>
                </a:solidFill>
              </a:rPr>
              <a:t>Problem: </a:t>
            </a:r>
            <a:r>
              <a:rPr lang="sv-SE" dirty="0">
                <a:solidFill>
                  <a:schemeClr val="bg1"/>
                </a:solidFill>
              </a:rPr>
              <a:t>Bedragare ändrar beteende → tidigare signaler slutar fungera</a:t>
            </a:r>
            <a:br>
              <a:rPr lang="sv-SE" b="1" dirty="0">
                <a:solidFill>
                  <a:schemeClr val="bg1"/>
                </a:solidFill>
              </a:rPr>
            </a:br>
            <a:r>
              <a:rPr lang="sv-SE" b="1" dirty="0" err="1">
                <a:solidFill>
                  <a:schemeClr val="bg1"/>
                </a:solidFill>
              </a:rPr>
              <a:t>Stakeholder</a:t>
            </a:r>
            <a:r>
              <a:rPr lang="sv-SE" b="1" dirty="0">
                <a:solidFill>
                  <a:schemeClr val="bg1"/>
                </a:solidFill>
              </a:rPr>
              <a:t>: </a:t>
            </a:r>
            <a:r>
              <a:rPr lang="sv-SE" dirty="0">
                <a:solidFill>
                  <a:schemeClr val="bg1"/>
                </a:solidFill>
              </a:rPr>
              <a:t>Oskar, </a:t>
            </a:r>
            <a:r>
              <a:rPr lang="sv-SE" dirty="0" err="1">
                <a:solidFill>
                  <a:schemeClr val="bg1"/>
                </a:solidFill>
              </a:rPr>
              <a:t>Security</a:t>
            </a:r>
            <a:r>
              <a:rPr lang="sv-SE" dirty="0">
                <a:solidFill>
                  <a:schemeClr val="bg1"/>
                </a:solidFill>
              </a:rPr>
              <a:t> </a:t>
            </a:r>
            <a:r>
              <a:rPr lang="sv-SE" dirty="0" err="1">
                <a:solidFill>
                  <a:schemeClr val="bg1"/>
                </a:solidFill>
              </a:rPr>
              <a:t>Analyst</a:t>
            </a:r>
            <a:r>
              <a:rPr lang="sv-SE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r>
              <a:rPr lang="sv-SE" b="1" dirty="0">
                <a:solidFill>
                  <a:schemeClr val="bg1"/>
                </a:solidFill>
              </a:rPr>
              <a:t>Oskars prioriteringar:</a:t>
            </a:r>
          </a:p>
          <a:p>
            <a:r>
              <a:rPr lang="sv-SE" dirty="0">
                <a:solidFill>
                  <a:schemeClr val="bg1"/>
                </a:solidFill>
              </a:rPr>
              <a:t>Modellen måste generalisera, inte överanpassa</a:t>
            </a:r>
          </a:p>
          <a:p>
            <a:r>
              <a:rPr lang="sv-SE" dirty="0">
                <a:solidFill>
                  <a:schemeClr val="bg1"/>
                </a:solidFill>
              </a:rPr>
              <a:t>Vi måste upptäcka drift när </a:t>
            </a:r>
            <a:r>
              <a:rPr lang="sv-SE" dirty="0" err="1">
                <a:solidFill>
                  <a:schemeClr val="bg1"/>
                </a:solidFill>
              </a:rPr>
              <a:t>datan</a:t>
            </a:r>
            <a:r>
              <a:rPr lang="sv-SE" dirty="0">
                <a:solidFill>
                  <a:schemeClr val="bg1"/>
                </a:solidFill>
              </a:rPr>
              <a:t> ändras</a:t>
            </a:r>
          </a:p>
          <a:p>
            <a:r>
              <a:rPr lang="sv-SE" dirty="0">
                <a:solidFill>
                  <a:schemeClr val="bg1"/>
                </a:solidFill>
              </a:rPr>
              <a:t>Hellre stabil än “magiskt bra” på historiken</a:t>
            </a:r>
          </a:p>
          <a:p>
            <a:r>
              <a:rPr lang="sv-SE" dirty="0">
                <a:solidFill>
                  <a:schemeClr val="bg1"/>
                </a:solidFill>
              </a:rPr>
              <a:t>Undvika lösningar som bygger på en enda signal</a:t>
            </a:r>
          </a:p>
          <a:p>
            <a:pPr marL="0" indent="0">
              <a:buNone/>
            </a:pPr>
            <a:r>
              <a:rPr lang="sv-SE" b="1" dirty="0">
                <a:solidFill>
                  <a:schemeClr val="bg1"/>
                </a:solidFill>
              </a:rPr>
              <a:t>Vårt mål:</a:t>
            </a:r>
            <a:br>
              <a:rPr lang="sv-SE" dirty="0">
                <a:solidFill>
                  <a:schemeClr val="bg1"/>
                </a:solidFill>
              </a:rPr>
            </a:br>
            <a:r>
              <a:rPr lang="sv-SE" dirty="0">
                <a:solidFill>
                  <a:schemeClr val="bg1"/>
                </a:solidFill>
              </a:rPr>
              <a:t>Bygga en robust modell + en plan för hur vi upptäcker när den börjar bli sämre.</a:t>
            </a:r>
          </a:p>
          <a:p>
            <a:endParaRPr lang="sv-S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94482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EA2F0-63D7-7AC6-0768-F633EC5DD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45856CA-B954-D2FA-F2F4-4EA94E09E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6747"/>
          </a:xfrm>
        </p:spPr>
        <p:txBody>
          <a:bodyPr>
            <a:normAutofit/>
          </a:bodyPr>
          <a:lstStyle/>
          <a:p>
            <a:r>
              <a:rPr lang="sv-SE" sz="3600" dirty="0"/>
              <a:t>Data-insikter (EDA) &amp; Risker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CCADA586-8023-365A-A9AF-F056346E8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9032"/>
            <a:ext cx="10515600" cy="47779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sz="2400" b="1" dirty="0"/>
              <a:t>EDA :</a:t>
            </a:r>
          </a:p>
          <a:p>
            <a:r>
              <a:rPr lang="sv-SE" sz="2400" dirty="0" err="1"/>
              <a:t>Dataset</a:t>
            </a:r>
            <a:r>
              <a:rPr lang="sv-SE" sz="2400" dirty="0"/>
              <a:t>: ~12,000 annonser, 17 features</a:t>
            </a:r>
            <a:endParaRPr lang="sv-SE" sz="2400" b="1" dirty="0"/>
          </a:p>
          <a:p>
            <a:r>
              <a:rPr lang="sv-SE" sz="2400" dirty="0"/>
              <a:t>Klassfördelning: 90 % </a:t>
            </a:r>
            <a:r>
              <a:rPr lang="sv-SE" sz="2400" dirty="0" err="1"/>
              <a:t>legit</a:t>
            </a:r>
            <a:r>
              <a:rPr lang="sv-SE" sz="2400" dirty="0"/>
              <a:t>, 10 % bedrägeri</a:t>
            </a:r>
            <a:endParaRPr lang="sv-SE" sz="2400" b="1" dirty="0"/>
          </a:p>
          <a:p>
            <a:r>
              <a:rPr lang="sv-SE" sz="2400" dirty="0"/>
              <a:t>Misstänkta konton har tydligt fler tidigare anmälningar än normala konton.</a:t>
            </a:r>
          </a:p>
          <a:p>
            <a:pPr marL="0" indent="0">
              <a:buNone/>
            </a:pPr>
            <a:r>
              <a:rPr lang="sv-SE" sz="2400" b="1" dirty="0"/>
              <a:t>Risker:</a:t>
            </a:r>
          </a:p>
          <a:p>
            <a:r>
              <a:rPr lang="sv-SE" sz="2400" dirty="0"/>
              <a:t>Dessa mönster kan ändras snabbt → drift</a:t>
            </a:r>
          </a:p>
          <a:p>
            <a:r>
              <a:rPr lang="sv-SE" sz="2400" dirty="0"/>
              <a:t>Kategorier kan manipuleras av bedragare</a:t>
            </a:r>
          </a:p>
          <a:p>
            <a:r>
              <a:rPr lang="sv-SE" sz="2400" dirty="0"/>
              <a:t>Enskilda starka signaler kan dö ut när bedragarna anpassar sig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072299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48DF6E-E289-0EBC-EFA2-763026F8B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5F54CE7-5854-122D-168A-5DB67483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81" y="2708804"/>
            <a:ext cx="3698803" cy="1440394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sv-SE" sz="1900">
                <a:solidFill>
                  <a:schemeClr val="tx1"/>
                </a:solidFill>
              </a:rPr>
              <a:t>Pipeline &amp; utvärdering (robusthet + leakage‑skydd)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061" y="-2"/>
            <a:ext cx="6876939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8A92D38-E8A0-B504-6575-2EA733D1A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9182" y="802638"/>
            <a:ext cx="5408696" cy="525272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sv-SE" b="1" dirty="0">
                <a:solidFill>
                  <a:schemeClr val="bg1"/>
                </a:solidFill>
              </a:rPr>
              <a:t>Pipeline:</a:t>
            </a:r>
          </a:p>
          <a:p>
            <a:pPr marL="0" indent="0">
              <a:buNone/>
            </a:pPr>
            <a:r>
              <a:rPr lang="sv-SE" b="1" dirty="0" err="1">
                <a:solidFill>
                  <a:schemeClr val="bg1"/>
                </a:solidFill>
              </a:rPr>
              <a:t>ColumnTransformer</a:t>
            </a:r>
            <a:endParaRPr lang="sv-SE" b="1" dirty="0">
              <a:solidFill>
                <a:schemeClr val="bg1"/>
              </a:solidFill>
            </a:endParaRPr>
          </a:p>
          <a:p>
            <a:pPr lvl="1"/>
            <a:r>
              <a:rPr lang="sv-SE" dirty="0">
                <a:solidFill>
                  <a:schemeClr val="bg1"/>
                </a:solidFill>
              </a:rPr>
              <a:t>Numeriska → </a:t>
            </a:r>
            <a:r>
              <a:rPr lang="sv-SE" dirty="0" err="1">
                <a:solidFill>
                  <a:schemeClr val="bg1"/>
                </a:solidFill>
              </a:rPr>
              <a:t>Imputer</a:t>
            </a:r>
            <a:r>
              <a:rPr lang="sv-SE" dirty="0">
                <a:solidFill>
                  <a:schemeClr val="bg1"/>
                </a:solidFill>
              </a:rPr>
              <a:t>(”Median”) + </a:t>
            </a:r>
            <a:r>
              <a:rPr lang="sv-SE" dirty="0" err="1">
                <a:solidFill>
                  <a:schemeClr val="bg1"/>
                </a:solidFill>
              </a:rPr>
              <a:t>StandardScaler</a:t>
            </a:r>
            <a:endParaRPr lang="sv-SE" dirty="0">
              <a:solidFill>
                <a:schemeClr val="bg1"/>
              </a:solidFill>
            </a:endParaRPr>
          </a:p>
          <a:p>
            <a:pPr lvl="1"/>
            <a:r>
              <a:rPr lang="sv-SE" dirty="0">
                <a:solidFill>
                  <a:schemeClr val="bg1"/>
                </a:solidFill>
              </a:rPr>
              <a:t>Kategoriska → </a:t>
            </a:r>
            <a:r>
              <a:rPr lang="sv-SE" dirty="0" err="1">
                <a:solidFill>
                  <a:schemeClr val="bg1"/>
                </a:solidFill>
              </a:rPr>
              <a:t>Imputer</a:t>
            </a:r>
            <a:r>
              <a:rPr lang="sv-SE" dirty="0">
                <a:solidFill>
                  <a:schemeClr val="bg1"/>
                </a:solidFill>
              </a:rPr>
              <a:t>(”Most </a:t>
            </a:r>
            <a:r>
              <a:rPr lang="sv-SE" dirty="0" err="1">
                <a:solidFill>
                  <a:schemeClr val="bg1"/>
                </a:solidFill>
              </a:rPr>
              <a:t>Frequent</a:t>
            </a:r>
            <a:r>
              <a:rPr lang="sv-SE" dirty="0">
                <a:solidFill>
                  <a:schemeClr val="bg1"/>
                </a:solidFill>
              </a:rPr>
              <a:t>”) + </a:t>
            </a:r>
            <a:r>
              <a:rPr lang="sv-SE" dirty="0" err="1">
                <a:solidFill>
                  <a:schemeClr val="bg1"/>
                </a:solidFill>
              </a:rPr>
              <a:t>OneHotEncoder</a:t>
            </a:r>
            <a:endParaRPr lang="sv-SE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sv-SE" b="1" dirty="0">
                <a:solidFill>
                  <a:schemeClr val="bg1"/>
                </a:solidFill>
              </a:rPr>
              <a:t>Modell: </a:t>
            </a:r>
            <a:r>
              <a:rPr lang="sv-SE" dirty="0" err="1">
                <a:solidFill>
                  <a:schemeClr val="bg1"/>
                </a:solidFill>
              </a:rPr>
              <a:t>LogisticRegression</a:t>
            </a:r>
            <a:r>
              <a:rPr lang="sv-SE" dirty="0">
                <a:solidFill>
                  <a:schemeClr val="bg1"/>
                </a:solidFill>
              </a:rPr>
              <a:t> (via </a:t>
            </a:r>
            <a:r>
              <a:rPr lang="sv-SE" dirty="0" err="1">
                <a:solidFill>
                  <a:schemeClr val="bg1"/>
                </a:solidFill>
              </a:rPr>
              <a:t>GridSearchCV</a:t>
            </a:r>
            <a:r>
              <a:rPr lang="sv-SE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sv-SE" b="1" dirty="0">
                <a:solidFill>
                  <a:schemeClr val="bg1"/>
                </a:solidFill>
              </a:rPr>
              <a:t>Hur vi undvek </a:t>
            </a:r>
            <a:r>
              <a:rPr lang="sv-SE" b="1" dirty="0" err="1">
                <a:solidFill>
                  <a:schemeClr val="bg1"/>
                </a:solidFill>
              </a:rPr>
              <a:t>leakage</a:t>
            </a:r>
            <a:r>
              <a:rPr lang="sv-SE" b="1" dirty="0">
                <a:solidFill>
                  <a:schemeClr val="bg1"/>
                </a:solidFill>
              </a:rPr>
              <a:t>:</a:t>
            </a:r>
          </a:p>
          <a:p>
            <a:r>
              <a:rPr lang="sv-SE" dirty="0" err="1">
                <a:solidFill>
                  <a:schemeClr val="bg1"/>
                </a:solidFill>
              </a:rPr>
              <a:t>Train</a:t>
            </a:r>
            <a:r>
              <a:rPr lang="sv-SE" dirty="0">
                <a:solidFill>
                  <a:schemeClr val="bg1"/>
                </a:solidFill>
              </a:rPr>
              <a:t>/test‑split innan all </a:t>
            </a:r>
            <a:r>
              <a:rPr lang="sv-SE" dirty="0" err="1">
                <a:solidFill>
                  <a:schemeClr val="bg1"/>
                </a:solidFill>
              </a:rPr>
              <a:t>preprocessing</a:t>
            </a:r>
            <a:endParaRPr lang="sv-SE" dirty="0">
              <a:solidFill>
                <a:schemeClr val="bg1"/>
              </a:solidFill>
            </a:endParaRPr>
          </a:p>
          <a:p>
            <a:r>
              <a:rPr lang="sv-SE" dirty="0">
                <a:solidFill>
                  <a:schemeClr val="bg1"/>
                </a:solidFill>
              </a:rPr>
              <a:t>Pipeline tränar </a:t>
            </a:r>
            <a:r>
              <a:rPr lang="sv-SE" dirty="0" err="1">
                <a:solidFill>
                  <a:schemeClr val="bg1"/>
                </a:solidFill>
              </a:rPr>
              <a:t>imputer</a:t>
            </a:r>
            <a:r>
              <a:rPr lang="sv-SE" dirty="0">
                <a:solidFill>
                  <a:schemeClr val="bg1"/>
                </a:solidFill>
              </a:rPr>
              <a:t>/</a:t>
            </a:r>
            <a:r>
              <a:rPr lang="sv-SE" dirty="0" err="1">
                <a:solidFill>
                  <a:schemeClr val="bg1"/>
                </a:solidFill>
              </a:rPr>
              <a:t>scaler</a:t>
            </a:r>
            <a:r>
              <a:rPr lang="sv-SE" dirty="0">
                <a:solidFill>
                  <a:schemeClr val="bg1"/>
                </a:solidFill>
              </a:rPr>
              <a:t> endast på </a:t>
            </a:r>
            <a:r>
              <a:rPr lang="sv-SE" dirty="0" err="1">
                <a:solidFill>
                  <a:schemeClr val="bg1"/>
                </a:solidFill>
              </a:rPr>
              <a:t>train</a:t>
            </a:r>
            <a:endParaRPr lang="sv-SE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sv-SE" b="1" dirty="0">
                <a:solidFill>
                  <a:schemeClr val="bg1"/>
                </a:solidFill>
              </a:rPr>
              <a:t>Varför detta är viktigt för Oskar:</a:t>
            </a:r>
            <a:br>
              <a:rPr lang="sv-SE" b="1" dirty="0">
                <a:solidFill>
                  <a:schemeClr val="bg1"/>
                </a:solidFill>
              </a:rPr>
            </a:br>
            <a:r>
              <a:rPr lang="sv-SE" b="1" dirty="0">
                <a:solidFill>
                  <a:schemeClr val="bg1"/>
                </a:solidFill>
              </a:rPr>
              <a:t>→ </a:t>
            </a:r>
            <a:r>
              <a:rPr lang="sv-SE" dirty="0">
                <a:solidFill>
                  <a:schemeClr val="bg1"/>
                </a:solidFill>
              </a:rPr>
              <a:t>Pipeline gör modellen robust mot förändringar och minskar risken att råka “läcka” framtida information</a:t>
            </a:r>
          </a:p>
          <a:p>
            <a:endParaRPr lang="sv-S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6820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44EFA-C608-9AC6-2AB3-F9C7882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7C48878-054E-A67D-5FAA-F5B5EA8CF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6747"/>
          </a:xfrm>
        </p:spPr>
        <p:txBody>
          <a:bodyPr>
            <a:normAutofit/>
          </a:bodyPr>
          <a:lstStyle/>
          <a:p>
            <a:r>
              <a:rPr lang="sv-SE" sz="3600" dirty="0"/>
              <a:t>Modelljämförelse</a:t>
            </a:r>
          </a:p>
        </p:txBody>
      </p:sp>
      <p:graphicFrame>
        <p:nvGraphicFramePr>
          <p:cNvPr id="4" name="Platshållare för innehåll 3">
            <a:extLst>
              <a:ext uri="{FF2B5EF4-FFF2-40B4-BE49-F238E27FC236}">
                <a16:creationId xmlns:a16="http://schemas.microsoft.com/office/drawing/2014/main" id="{31C2B987-D464-3B91-63BD-4C6541A396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8201031"/>
              </p:ext>
            </p:extLst>
          </p:nvPr>
        </p:nvGraphicFramePr>
        <p:xfrm>
          <a:off x="1797844" y="1511173"/>
          <a:ext cx="859631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437">
                  <a:extLst>
                    <a:ext uri="{9D8B030D-6E8A-4147-A177-3AD203B41FA5}">
                      <a16:colId xmlns:a16="http://schemas.microsoft.com/office/drawing/2014/main" val="2859691244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2580257613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32876934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sv-SE" dirty="0"/>
                        <a:t>Modell</a:t>
                      </a:r>
                    </a:p>
                  </a:txBody>
                  <a:tcPr marL="74751" marR="74751"/>
                </a:tc>
                <a:tc>
                  <a:txBody>
                    <a:bodyPr/>
                    <a:lstStyle/>
                    <a:p>
                      <a:r>
                        <a:rPr lang="sv-SE" dirty="0" err="1"/>
                        <a:t>Mean</a:t>
                      </a:r>
                      <a:r>
                        <a:rPr lang="sv-SE" dirty="0"/>
                        <a:t> ROC-AUC</a:t>
                      </a:r>
                    </a:p>
                  </a:txBody>
                  <a:tcPr marL="74751" marR="74751"/>
                </a:tc>
                <a:tc>
                  <a:txBody>
                    <a:bodyPr/>
                    <a:lstStyle/>
                    <a:p>
                      <a:r>
                        <a:rPr lang="sv-SE" dirty="0" err="1"/>
                        <a:t>Std</a:t>
                      </a:r>
                      <a:endParaRPr lang="sv-SE" dirty="0"/>
                    </a:p>
                  </a:txBody>
                  <a:tcPr marL="74751" marR="74751"/>
                </a:tc>
                <a:extLst>
                  <a:ext uri="{0D108BD9-81ED-4DB2-BD59-A6C34878D82A}">
                    <a16:rowId xmlns:a16="http://schemas.microsoft.com/office/drawing/2014/main" val="1157926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Logistic</a:t>
                      </a:r>
                      <a:r>
                        <a:rPr lang="sv-S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Regression</a:t>
                      </a:r>
                      <a:endParaRPr lang="sv-SE" dirty="0"/>
                    </a:p>
                  </a:txBody>
                  <a:tcPr marL="74751" marR="74751"/>
                </a:tc>
                <a:tc>
                  <a:txBody>
                    <a:bodyPr/>
                    <a:lstStyle/>
                    <a:p>
                      <a:r>
                        <a:rPr lang="sv-S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0.74</a:t>
                      </a:r>
                      <a:endParaRPr lang="sv-SE" dirty="0"/>
                    </a:p>
                  </a:txBody>
                  <a:tcPr marL="74751" marR="74751"/>
                </a:tc>
                <a:tc>
                  <a:txBody>
                    <a:bodyPr/>
                    <a:lstStyle/>
                    <a:p>
                      <a:r>
                        <a:rPr lang="sv-S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0.014</a:t>
                      </a:r>
                      <a:endParaRPr lang="sv-SE" dirty="0"/>
                    </a:p>
                  </a:txBody>
                  <a:tcPr marL="74751" marR="74751"/>
                </a:tc>
                <a:extLst>
                  <a:ext uri="{0D108BD9-81ED-4DB2-BD59-A6C34878D82A}">
                    <a16:rowId xmlns:a16="http://schemas.microsoft.com/office/drawing/2014/main" val="4169045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Decision </a:t>
                      </a:r>
                      <a:r>
                        <a:rPr lang="sv-SE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Tree</a:t>
                      </a:r>
                      <a:endParaRPr lang="sv-SE" dirty="0"/>
                    </a:p>
                  </a:txBody>
                  <a:tcPr marL="74751" marR="74751"/>
                </a:tc>
                <a:tc>
                  <a:txBody>
                    <a:bodyPr/>
                    <a:lstStyle/>
                    <a:p>
                      <a:r>
                        <a:rPr lang="sv-S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0.558</a:t>
                      </a:r>
                      <a:endParaRPr lang="sv-SE" dirty="0"/>
                    </a:p>
                  </a:txBody>
                  <a:tcPr marL="74751" marR="74751"/>
                </a:tc>
                <a:tc>
                  <a:txBody>
                    <a:bodyPr/>
                    <a:lstStyle/>
                    <a:p>
                      <a:r>
                        <a:rPr lang="sv-S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0.019</a:t>
                      </a:r>
                      <a:endParaRPr lang="sv-SE" dirty="0"/>
                    </a:p>
                  </a:txBody>
                  <a:tcPr marL="74751" marR="74751"/>
                </a:tc>
                <a:extLst>
                  <a:ext uri="{0D108BD9-81ED-4DB2-BD59-A6C34878D82A}">
                    <a16:rowId xmlns:a16="http://schemas.microsoft.com/office/drawing/2014/main" val="2136480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Random</a:t>
                      </a:r>
                      <a:r>
                        <a:rPr lang="sv-S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Forest</a:t>
                      </a:r>
                      <a:endParaRPr lang="sv-SE" dirty="0"/>
                    </a:p>
                  </a:txBody>
                  <a:tcPr marL="74751" marR="74751"/>
                </a:tc>
                <a:tc>
                  <a:txBody>
                    <a:bodyPr/>
                    <a:lstStyle/>
                    <a:p>
                      <a:r>
                        <a:rPr lang="sv-S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0.735</a:t>
                      </a:r>
                      <a:endParaRPr lang="sv-SE" dirty="0"/>
                    </a:p>
                  </a:txBody>
                  <a:tcPr marL="74751" marR="74751"/>
                </a:tc>
                <a:tc>
                  <a:txBody>
                    <a:bodyPr/>
                    <a:lstStyle/>
                    <a:p>
                      <a:r>
                        <a:rPr lang="sv-S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0.005</a:t>
                      </a:r>
                      <a:endParaRPr lang="sv-SE" dirty="0"/>
                    </a:p>
                  </a:txBody>
                  <a:tcPr marL="74751" marR="74751"/>
                </a:tc>
                <a:extLst>
                  <a:ext uri="{0D108BD9-81ED-4DB2-BD59-A6C34878D82A}">
                    <a16:rowId xmlns:a16="http://schemas.microsoft.com/office/drawing/2014/main" val="113633811"/>
                  </a:ext>
                </a:extLst>
              </a:tr>
            </a:tbl>
          </a:graphicData>
        </a:graphic>
      </p:graphicFrame>
      <p:sp>
        <p:nvSpPr>
          <p:cNvPr id="5" name="textruta 4">
            <a:extLst>
              <a:ext uri="{FF2B5EF4-FFF2-40B4-BE49-F238E27FC236}">
                <a16:creationId xmlns:a16="http://schemas.microsoft.com/office/drawing/2014/main" id="{0B4D113B-CF51-2D57-09C5-782FC1597C91}"/>
              </a:ext>
            </a:extLst>
          </p:cNvPr>
          <p:cNvSpPr txBox="1"/>
          <p:nvPr/>
        </p:nvSpPr>
        <p:spPr>
          <a:xfrm>
            <a:off x="735013" y="3243834"/>
            <a:ext cx="1051559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/>
              <a:t>Metod: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Cross-</a:t>
            </a:r>
            <a:r>
              <a:rPr lang="sv-SE" dirty="0" err="1"/>
              <a:t>validation</a:t>
            </a:r>
            <a:r>
              <a:rPr lang="sv-SE" dirty="0"/>
              <a:t> (5 </a:t>
            </a:r>
            <a:r>
              <a:rPr lang="sv-SE" dirty="0" err="1"/>
              <a:t>folds</a:t>
            </a:r>
            <a:r>
              <a:rPr lang="sv-SE" dirty="0"/>
              <a:t>) används för att utvärdera modellerna med </a:t>
            </a:r>
            <a:r>
              <a:rPr lang="sv-SE" dirty="0" err="1"/>
              <a:t>metric</a:t>
            </a:r>
            <a:r>
              <a:rPr lang="sv-SE" dirty="0"/>
              <a:t> ROC-AUC.</a:t>
            </a:r>
            <a:endParaRPr lang="sv-SE" b="1" dirty="0"/>
          </a:p>
          <a:p>
            <a:r>
              <a:rPr lang="sv-SE" b="1" dirty="0"/>
              <a:t>Motivering: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Resultaten visar att </a:t>
            </a:r>
            <a:r>
              <a:rPr lang="sv-SE" dirty="0" err="1"/>
              <a:t>Logistic</a:t>
            </a:r>
            <a:r>
              <a:rPr lang="sv-SE" dirty="0"/>
              <a:t> Regression presterar bäst, tätt följd av </a:t>
            </a:r>
            <a:r>
              <a:rPr lang="sv-SE" dirty="0" err="1"/>
              <a:t>Random</a:t>
            </a:r>
            <a:r>
              <a:rPr lang="sv-SE" dirty="0"/>
              <a:t> Forest, medan Decision </a:t>
            </a:r>
            <a:r>
              <a:rPr lang="sv-SE" dirty="0" err="1"/>
              <a:t>Tree</a:t>
            </a:r>
            <a:r>
              <a:rPr lang="sv-SE" dirty="0"/>
              <a:t> presterar betydligt sämre.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Vi väljer därför </a:t>
            </a:r>
            <a:r>
              <a:rPr lang="sv-SE" dirty="0" err="1"/>
              <a:t>Logistic</a:t>
            </a:r>
            <a:r>
              <a:rPr lang="sv-SE" dirty="0"/>
              <a:t> Regression som slutlig modell eftersom den ger högst genomsnittlig ROC-AUC.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En enklare modell kan också vara mer stabil över tid, vilket är viktigt eftersom beteenden i systemet kan förändras och modellen behöver generalisera till nya typer av aktivitet.</a:t>
            </a:r>
            <a:endParaRPr lang="sv-SE" b="1" dirty="0"/>
          </a:p>
          <a:p>
            <a:r>
              <a:rPr lang="sv-SE" b="1" dirty="0"/>
              <a:t>Varför vi valde bort näst bästa: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 err="1"/>
              <a:t>Random</a:t>
            </a:r>
            <a:r>
              <a:rPr lang="sv-SE" dirty="0"/>
              <a:t> Forest hade sämre rankingförmåga och större risk för </a:t>
            </a:r>
            <a:r>
              <a:rPr lang="sv-SE" dirty="0" err="1"/>
              <a:t>överfitting</a:t>
            </a:r>
            <a:r>
              <a:rPr lang="sv-SE" dirty="0"/>
              <a:t> på historiken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746166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92F823-C612-E83B-F76B-7883722DC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EEB0010-E035-0002-E15F-3C7EF0B3B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81" y="2708804"/>
            <a:ext cx="3698803" cy="1440394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sv-SE" sz="2400">
                <a:solidFill>
                  <a:schemeClr val="tx1"/>
                </a:solidFill>
              </a:rPr>
              <a:t>Vald modell + tuning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061" y="-2"/>
            <a:ext cx="6876939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65A527A-08AE-4722-55F0-BAA97B1D8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9182" y="802638"/>
            <a:ext cx="5408696" cy="5252722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sv-SE" sz="1500" b="1" dirty="0">
                <a:solidFill>
                  <a:schemeClr val="bg1"/>
                </a:solidFill>
              </a:rPr>
              <a:t>Vald modell: </a:t>
            </a:r>
            <a:r>
              <a:rPr lang="sv-SE" sz="1500" dirty="0" err="1">
                <a:solidFill>
                  <a:schemeClr val="bg1"/>
                </a:solidFill>
              </a:rPr>
              <a:t>Logistic</a:t>
            </a:r>
            <a:r>
              <a:rPr lang="sv-SE" sz="1500" dirty="0">
                <a:solidFill>
                  <a:schemeClr val="bg1"/>
                </a:solidFill>
              </a:rPr>
              <a:t> Regression</a:t>
            </a:r>
            <a:br>
              <a:rPr lang="sv-SE" sz="1500" b="1" dirty="0">
                <a:solidFill>
                  <a:schemeClr val="bg1"/>
                </a:solidFill>
              </a:rPr>
            </a:br>
            <a:r>
              <a:rPr lang="sv-SE" sz="1500" b="1" dirty="0" err="1">
                <a:solidFill>
                  <a:schemeClr val="bg1"/>
                </a:solidFill>
              </a:rPr>
              <a:t>Tuning</a:t>
            </a:r>
            <a:r>
              <a:rPr lang="sv-SE" sz="1500" b="1" dirty="0">
                <a:solidFill>
                  <a:schemeClr val="bg1"/>
                </a:solidFill>
              </a:rPr>
              <a:t> vi gjorde: </a:t>
            </a:r>
            <a:r>
              <a:rPr lang="sv-SE" sz="1500" dirty="0">
                <a:solidFill>
                  <a:schemeClr val="bg1"/>
                </a:solidFill>
              </a:rPr>
              <a:t>Vi testade två regulariseringsstrategier för att undvika att modellen fastnar i en enda “för bra” signal</a:t>
            </a:r>
          </a:p>
          <a:p>
            <a:pPr>
              <a:lnSpc>
                <a:spcPct val="90000"/>
              </a:lnSpc>
            </a:pPr>
            <a:r>
              <a:rPr lang="sv-SE" sz="1500" dirty="0">
                <a:solidFill>
                  <a:schemeClr val="bg1"/>
                </a:solidFill>
              </a:rPr>
              <a:t>L2 (Ridge) → C: 0.01 → 100, </a:t>
            </a:r>
            <a:r>
              <a:rPr lang="sv-SE" sz="1500" dirty="0" err="1">
                <a:solidFill>
                  <a:schemeClr val="bg1"/>
                </a:solidFill>
              </a:rPr>
              <a:t>Solver</a:t>
            </a:r>
            <a:r>
              <a:rPr lang="sv-SE" sz="1500" dirty="0">
                <a:solidFill>
                  <a:schemeClr val="bg1"/>
                </a:solidFill>
              </a:rPr>
              <a:t>; </a:t>
            </a:r>
            <a:r>
              <a:rPr lang="sv-SE" sz="1500" dirty="0" err="1">
                <a:solidFill>
                  <a:schemeClr val="bg1"/>
                </a:solidFill>
              </a:rPr>
              <a:t>lbfgs</a:t>
            </a:r>
            <a:r>
              <a:rPr lang="sv-SE" sz="1500" dirty="0">
                <a:solidFill>
                  <a:schemeClr val="bg1"/>
                </a:solidFill>
              </a:rPr>
              <a:t>, l1_ratio : 0</a:t>
            </a:r>
          </a:p>
          <a:p>
            <a:pPr>
              <a:lnSpc>
                <a:spcPct val="90000"/>
              </a:lnSpc>
            </a:pPr>
            <a:r>
              <a:rPr lang="sv-SE" sz="1500" dirty="0">
                <a:solidFill>
                  <a:schemeClr val="bg1"/>
                </a:solidFill>
              </a:rPr>
              <a:t>L1 (Lasso) → C: 0.01 → 100, </a:t>
            </a:r>
            <a:r>
              <a:rPr lang="sv-SE" sz="1500" dirty="0" err="1">
                <a:solidFill>
                  <a:schemeClr val="bg1"/>
                </a:solidFill>
              </a:rPr>
              <a:t>Solver</a:t>
            </a:r>
            <a:r>
              <a:rPr lang="sv-SE" sz="1500" dirty="0">
                <a:solidFill>
                  <a:schemeClr val="bg1"/>
                </a:solidFill>
              </a:rPr>
              <a:t>: saga, l1_ratio: 1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sv-SE" sz="1500" b="1" dirty="0">
                <a:solidFill>
                  <a:schemeClr val="bg1"/>
                </a:solidFill>
              </a:rPr>
              <a:t>Varför detta är viktigt för Oskar:</a:t>
            </a:r>
          </a:p>
          <a:p>
            <a:pPr>
              <a:lnSpc>
                <a:spcPct val="90000"/>
              </a:lnSpc>
            </a:pPr>
            <a:r>
              <a:rPr lang="sv-SE" sz="1500" dirty="0">
                <a:solidFill>
                  <a:schemeClr val="bg1"/>
                </a:solidFill>
              </a:rPr>
              <a:t>Regularisering gör modellen robust mot förändringar i </a:t>
            </a:r>
            <a:r>
              <a:rPr lang="sv-SE" sz="1500" dirty="0" err="1">
                <a:solidFill>
                  <a:schemeClr val="bg1"/>
                </a:solidFill>
              </a:rPr>
              <a:t>datan</a:t>
            </a:r>
            <a:endParaRPr lang="sv-SE" sz="15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sv-SE" sz="1500" dirty="0">
                <a:solidFill>
                  <a:schemeClr val="bg1"/>
                </a:solidFill>
              </a:rPr>
              <a:t>L1 kan ta bort svaga/instabila features → minskar drift‑risk</a:t>
            </a:r>
          </a:p>
          <a:p>
            <a:pPr>
              <a:lnSpc>
                <a:spcPct val="90000"/>
              </a:lnSpc>
            </a:pPr>
            <a:r>
              <a:rPr lang="sv-SE" sz="1500" dirty="0">
                <a:solidFill>
                  <a:schemeClr val="bg1"/>
                </a:solidFill>
              </a:rPr>
              <a:t>L2 stabiliserar vikter → mindre känslig för brus</a:t>
            </a:r>
          </a:p>
          <a:p>
            <a:pPr>
              <a:lnSpc>
                <a:spcPct val="90000"/>
              </a:lnSpc>
            </a:pPr>
            <a:r>
              <a:rPr lang="sv-SE" sz="1500" dirty="0">
                <a:solidFill>
                  <a:schemeClr val="bg1"/>
                </a:solidFill>
              </a:rPr>
              <a:t>Vi undviker att modellen bygger på en enda signal som bedragare kan kringgå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sv-SE" sz="1500" b="1" dirty="0">
                <a:solidFill>
                  <a:schemeClr val="bg1"/>
                </a:solidFill>
              </a:rPr>
              <a:t>Resultat från </a:t>
            </a:r>
            <a:r>
              <a:rPr lang="sv-SE" sz="1500" b="1" dirty="0" err="1">
                <a:solidFill>
                  <a:schemeClr val="bg1"/>
                </a:solidFill>
              </a:rPr>
              <a:t>GridSearchCV</a:t>
            </a:r>
            <a:r>
              <a:rPr lang="sv-SE" sz="1500" b="1" dirty="0">
                <a:solidFill>
                  <a:schemeClr val="bg1"/>
                </a:solidFill>
              </a:rPr>
              <a:t>:</a:t>
            </a:r>
          </a:p>
          <a:p>
            <a:pPr>
              <a:lnSpc>
                <a:spcPct val="90000"/>
              </a:lnSpc>
            </a:pPr>
            <a:r>
              <a:rPr lang="sv-SE" sz="1500" dirty="0">
                <a:solidFill>
                  <a:schemeClr val="bg1"/>
                </a:solidFill>
              </a:rPr>
              <a:t>Bästa parametrar: C = 0.1, l1_ratio = 1, </a:t>
            </a:r>
            <a:r>
              <a:rPr lang="sv-SE" sz="1500" dirty="0" err="1">
                <a:solidFill>
                  <a:schemeClr val="bg1"/>
                </a:solidFill>
              </a:rPr>
              <a:t>solver</a:t>
            </a:r>
            <a:r>
              <a:rPr lang="sv-SE" sz="1500" dirty="0">
                <a:solidFill>
                  <a:schemeClr val="bg1"/>
                </a:solidFill>
              </a:rPr>
              <a:t> = saga </a:t>
            </a:r>
          </a:p>
          <a:p>
            <a:pPr>
              <a:lnSpc>
                <a:spcPct val="90000"/>
              </a:lnSpc>
            </a:pPr>
            <a:r>
              <a:rPr lang="sv-SE" sz="1500" dirty="0">
                <a:solidFill>
                  <a:schemeClr val="bg1"/>
                </a:solidFill>
              </a:rPr>
              <a:t>Bästa ROC‑AUC: 0.7414~</a:t>
            </a:r>
          </a:p>
          <a:p>
            <a:pPr>
              <a:lnSpc>
                <a:spcPct val="90000"/>
              </a:lnSpc>
            </a:pPr>
            <a:r>
              <a:rPr lang="sv-SE" sz="1500" dirty="0">
                <a:solidFill>
                  <a:schemeClr val="bg1"/>
                </a:solidFill>
              </a:rPr>
              <a:t>Marginellt bättre än </a:t>
            </a:r>
            <a:r>
              <a:rPr lang="sv-SE" sz="1500" dirty="0" err="1">
                <a:solidFill>
                  <a:schemeClr val="bg1"/>
                </a:solidFill>
              </a:rPr>
              <a:t>lbfgs</a:t>
            </a:r>
            <a:r>
              <a:rPr lang="sv-SE" sz="1500" dirty="0">
                <a:solidFill>
                  <a:schemeClr val="bg1"/>
                </a:solidFill>
              </a:rPr>
              <a:t> med ett ROC-AUC värde på 0.7394~</a:t>
            </a:r>
          </a:p>
          <a:p>
            <a:pPr>
              <a:lnSpc>
                <a:spcPct val="90000"/>
              </a:lnSpc>
            </a:pPr>
            <a:endParaRPr lang="sv-SE" sz="1500" dirty="0">
              <a:solidFill>
                <a:schemeClr val="bg1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sv-SE" sz="1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19810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9F7B11-005D-1485-7259-361BEA76D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ED4C25C-9E19-B61E-93F5-9788FF0C9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81" y="2708804"/>
            <a:ext cx="3698803" cy="144039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sv-SE" sz="1100">
                <a:solidFill>
                  <a:schemeClr val="tx1"/>
                </a:solidFill>
              </a:rPr>
              <a:t>Prioritering &amp; konsekvenser (kopplat till kravkortet)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061" y="-2"/>
            <a:ext cx="6876939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D33736B2-9800-F9AD-A679-4F300A523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9182" y="802638"/>
            <a:ext cx="5408696" cy="5252722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sv-SE" sz="1500" b="1" dirty="0">
                <a:solidFill>
                  <a:schemeClr val="bg1"/>
                </a:solidFill>
              </a:rPr>
              <a:t>Utifrån </a:t>
            </a:r>
            <a:r>
              <a:rPr lang="sv-SE" sz="1500" b="1" dirty="0" err="1">
                <a:solidFill>
                  <a:schemeClr val="bg1"/>
                </a:solidFill>
              </a:rPr>
              <a:t>Stakeholder</a:t>
            </a:r>
            <a:r>
              <a:rPr lang="sv-SE" sz="1500" b="1" dirty="0">
                <a:solidFill>
                  <a:schemeClr val="bg1"/>
                </a:solidFill>
              </a:rPr>
              <a:t>‑krav:</a:t>
            </a:r>
          </a:p>
          <a:p>
            <a:pPr>
              <a:lnSpc>
                <a:spcPct val="90000"/>
              </a:lnSpc>
            </a:pPr>
            <a:r>
              <a:rPr lang="sv-SE" sz="1500" dirty="0">
                <a:solidFill>
                  <a:schemeClr val="bg1"/>
                </a:solidFill>
              </a:rPr>
              <a:t>Max 50 manuella granskningar/dag </a:t>
            </a:r>
          </a:p>
          <a:p>
            <a:pPr>
              <a:lnSpc>
                <a:spcPct val="90000"/>
              </a:lnSpc>
            </a:pPr>
            <a:r>
              <a:rPr lang="sv-SE" sz="1500" dirty="0">
                <a:solidFill>
                  <a:schemeClr val="bg1"/>
                </a:solidFill>
              </a:rPr>
              <a:t>Minimera falska negativa (Bedrägerier som slinker igenom)</a:t>
            </a:r>
          </a:p>
          <a:p>
            <a:pPr>
              <a:lnSpc>
                <a:spcPct val="90000"/>
              </a:lnSpc>
            </a:pPr>
            <a:r>
              <a:rPr lang="sv-SE" sz="1500" dirty="0">
                <a:solidFill>
                  <a:schemeClr val="bg1"/>
                </a:solidFill>
              </a:rPr>
              <a:t>Acceptera vissa falska positiva (FP)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sv-SE" sz="1500" b="1" dirty="0">
                <a:solidFill>
                  <a:schemeClr val="bg1"/>
                </a:solidFill>
              </a:rPr>
              <a:t>Vald strategi: </a:t>
            </a:r>
            <a:r>
              <a:rPr lang="sv-SE" sz="1500" dirty="0">
                <a:solidFill>
                  <a:schemeClr val="bg1"/>
                </a:solidFill>
              </a:rPr>
              <a:t>Top‑50 ranking (inte </a:t>
            </a:r>
            <a:r>
              <a:rPr lang="sv-SE" sz="1500" dirty="0" err="1">
                <a:solidFill>
                  <a:schemeClr val="bg1"/>
                </a:solidFill>
              </a:rPr>
              <a:t>threshold</a:t>
            </a:r>
            <a:r>
              <a:rPr lang="sv-SE" sz="1500" dirty="0">
                <a:solidFill>
                  <a:schemeClr val="bg1"/>
                </a:solidFill>
              </a:rPr>
              <a:t>)</a:t>
            </a:r>
          </a:p>
          <a:p>
            <a:pPr>
              <a:lnSpc>
                <a:spcPct val="90000"/>
              </a:lnSpc>
            </a:pPr>
            <a:r>
              <a:rPr lang="sv-SE" sz="1500" dirty="0">
                <a:solidFill>
                  <a:schemeClr val="bg1"/>
                </a:solidFill>
              </a:rPr>
              <a:t>Bäst för ett team med fast kapacitet</a:t>
            </a:r>
          </a:p>
          <a:p>
            <a:pPr>
              <a:lnSpc>
                <a:spcPct val="90000"/>
              </a:lnSpc>
            </a:pPr>
            <a:r>
              <a:rPr lang="sv-SE" sz="1500" dirty="0">
                <a:solidFill>
                  <a:schemeClr val="bg1"/>
                </a:solidFill>
              </a:rPr>
              <a:t>Robust mot förändringar i datadistribution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sv-SE" sz="1500" b="1" dirty="0">
                <a:solidFill>
                  <a:schemeClr val="bg1"/>
                </a:solidFill>
              </a:rPr>
              <a:t>Resultat på testdata:</a:t>
            </a:r>
          </a:p>
          <a:p>
            <a:pPr>
              <a:lnSpc>
                <a:spcPct val="90000"/>
              </a:lnSpc>
            </a:pPr>
            <a:r>
              <a:rPr lang="sv-SE" sz="1500" dirty="0">
                <a:solidFill>
                  <a:schemeClr val="bg1"/>
                </a:solidFill>
              </a:rPr>
              <a:t>42 % precision@50</a:t>
            </a:r>
          </a:p>
          <a:p>
            <a:pPr>
              <a:lnSpc>
                <a:spcPct val="90000"/>
              </a:lnSpc>
            </a:pPr>
            <a:r>
              <a:rPr lang="sv-SE" sz="1500" dirty="0">
                <a:solidFill>
                  <a:schemeClr val="bg1"/>
                </a:solidFill>
              </a:rPr>
              <a:t>21 av 50 flaggade var riktiga bedrägerier</a:t>
            </a:r>
          </a:p>
          <a:p>
            <a:pPr>
              <a:lnSpc>
                <a:spcPct val="90000"/>
              </a:lnSpc>
            </a:pPr>
            <a:r>
              <a:rPr lang="sv-SE" sz="1500" dirty="0">
                <a:solidFill>
                  <a:schemeClr val="bg1"/>
                </a:solidFill>
              </a:rPr>
              <a:t>4,2× bättre än slumpen (10 % </a:t>
            </a:r>
            <a:r>
              <a:rPr lang="sv-SE" sz="1500" dirty="0" err="1">
                <a:solidFill>
                  <a:schemeClr val="bg1"/>
                </a:solidFill>
              </a:rPr>
              <a:t>baseline</a:t>
            </a:r>
            <a:r>
              <a:rPr lang="sv-SE" sz="1500" dirty="0">
                <a:solidFill>
                  <a:schemeClr val="bg1"/>
                </a:solidFill>
              </a:rPr>
              <a:t>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sv-SE" sz="1500" b="1" dirty="0">
                <a:solidFill>
                  <a:schemeClr val="bg1"/>
                </a:solidFill>
              </a:rPr>
              <a:t>Konsekvens:</a:t>
            </a:r>
          </a:p>
          <a:p>
            <a:pPr>
              <a:lnSpc>
                <a:spcPct val="90000"/>
              </a:lnSpc>
            </a:pPr>
            <a:r>
              <a:rPr lang="sv-SE" sz="1500" dirty="0">
                <a:solidFill>
                  <a:schemeClr val="bg1"/>
                </a:solidFill>
              </a:rPr>
              <a:t>FP kostar tid → acceptabelt (Kostnad)</a:t>
            </a:r>
          </a:p>
          <a:p>
            <a:pPr>
              <a:lnSpc>
                <a:spcPct val="90000"/>
              </a:lnSpc>
            </a:pPr>
            <a:r>
              <a:rPr lang="sv-SE" sz="1500" dirty="0">
                <a:solidFill>
                  <a:schemeClr val="bg1"/>
                </a:solidFill>
              </a:rPr>
              <a:t>FN släpper igenom bedrägerier → måste minimeras (Påverkar förtroende)</a:t>
            </a:r>
          </a:p>
          <a:p>
            <a:pPr>
              <a:lnSpc>
                <a:spcPct val="90000"/>
              </a:lnSpc>
            </a:pPr>
            <a:endParaRPr lang="sv-SE" sz="1500" dirty="0">
              <a:solidFill>
                <a:schemeClr val="bg1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sv-SE" sz="1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10679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DE561-9E0A-804A-5AA7-2B2C4151C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3E8B548-94F1-4141-79DD-3431D9E0F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6747"/>
          </a:xfrm>
        </p:spPr>
        <p:txBody>
          <a:bodyPr>
            <a:normAutofit/>
          </a:bodyPr>
          <a:lstStyle/>
          <a:p>
            <a:r>
              <a:rPr lang="sv-SE" sz="3600" dirty="0"/>
              <a:t>Prediktioner på ny data (drift-test)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B6263C0-BE17-59E1-1E55-DF8F61A3F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9032"/>
            <a:ext cx="10515600" cy="4777931"/>
          </a:xfrm>
        </p:spPr>
        <p:txBody>
          <a:bodyPr>
            <a:normAutofit/>
          </a:bodyPr>
          <a:lstStyle/>
          <a:p>
            <a:endParaRPr lang="sv-SE" dirty="0"/>
          </a:p>
          <a:p>
            <a:pPr marL="0" indent="0">
              <a:buNone/>
            </a:pPr>
            <a:endParaRPr lang="sv-SE" dirty="0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9447DE01-9522-0E45-CFCD-6D7E2D13F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261" y="1466784"/>
            <a:ext cx="4710769" cy="3686689"/>
          </a:xfrm>
          <a:prstGeom prst="rect">
            <a:avLst/>
          </a:prstGeom>
        </p:spPr>
      </p:pic>
      <p:pic>
        <p:nvPicPr>
          <p:cNvPr id="7" name="Bildobjekt 6">
            <a:extLst>
              <a:ext uri="{FF2B5EF4-FFF2-40B4-BE49-F238E27FC236}">
                <a16:creationId xmlns:a16="http://schemas.microsoft.com/office/drawing/2014/main" id="{14AC1558-B273-9D3F-6075-3071178575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8969" y="1654957"/>
            <a:ext cx="4490776" cy="3310343"/>
          </a:xfrm>
          <a:prstGeom prst="rect">
            <a:avLst/>
          </a:prstGeom>
        </p:spPr>
      </p:pic>
      <p:sp>
        <p:nvSpPr>
          <p:cNvPr id="8" name="textruta 7">
            <a:extLst>
              <a:ext uri="{FF2B5EF4-FFF2-40B4-BE49-F238E27FC236}">
                <a16:creationId xmlns:a16="http://schemas.microsoft.com/office/drawing/2014/main" id="{81B08C17-3F41-0291-59EA-AFE4D5B6817C}"/>
              </a:ext>
            </a:extLst>
          </p:cNvPr>
          <p:cNvSpPr txBox="1"/>
          <p:nvPr/>
        </p:nvSpPr>
        <p:spPr>
          <a:xfrm>
            <a:off x="838200" y="5221224"/>
            <a:ext cx="1051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/>
              <a:t>Reflektion: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New Data har någorlunda samma distribution som den historiska </a:t>
            </a:r>
            <a:r>
              <a:rPr lang="sv-SE" dirty="0" err="1"/>
              <a:t>datan</a:t>
            </a:r>
            <a:r>
              <a:rPr lang="sv-SE" dirty="0"/>
              <a:t> (Ingen märkbar drift).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30 utav 50 har en risk-score under 0,5 (Justera </a:t>
            </a:r>
            <a:r>
              <a:rPr lang="sv-SE" dirty="0" err="1"/>
              <a:t>Top</a:t>
            </a:r>
            <a:r>
              <a:rPr lang="sv-SE" dirty="0"/>
              <a:t> X? )</a:t>
            </a:r>
          </a:p>
        </p:txBody>
      </p:sp>
    </p:spTree>
    <p:extLst>
      <p:ext uri="{BB962C8B-B14F-4D97-AF65-F5344CB8AC3E}">
        <p14:creationId xmlns:p14="http://schemas.microsoft.com/office/powerpoint/2010/main" val="2498853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E7586C-DD30-C385-21FD-4336F8836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29023F1-E4E7-8CD4-104B-1E74CA440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81" y="2708804"/>
            <a:ext cx="3698803" cy="144039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sv-SE" sz="1500">
                <a:solidFill>
                  <a:schemeClr val="tx1"/>
                </a:solidFill>
              </a:rPr>
              <a:t>Risker, begräsningar &amp; nästa steg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061" y="-2"/>
            <a:ext cx="6876939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Platshållare för innehåll 2">
            <a:extLst>
              <a:ext uri="{FF2B5EF4-FFF2-40B4-BE49-F238E27FC236}">
                <a16:creationId xmlns:a16="http://schemas.microsoft.com/office/drawing/2014/main" id="{85791E43-ED73-F950-8CC6-42B1674FE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9182" y="802638"/>
            <a:ext cx="5408696" cy="525272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sv-SE" b="1" dirty="0">
                <a:solidFill>
                  <a:schemeClr val="bg1"/>
                </a:solidFill>
              </a:rPr>
              <a:t>Risker:</a:t>
            </a:r>
          </a:p>
          <a:p>
            <a:r>
              <a:rPr lang="sv-SE" dirty="0" err="1">
                <a:solidFill>
                  <a:schemeClr val="bg1"/>
                </a:solidFill>
              </a:rPr>
              <a:t>Prediction</a:t>
            </a:r>
            <a:r>
              <a:rPr lang="sv-SE" dirty="0">
                <a:solidFill>
                  <a:schemeClr val="bg1"/>
                </a:solidFill>
              </a:rPr>
              <a:t> drift när bedragare ändrar beteende</a:t>
            </a:r>
          </a:p>
          <a:p>
            <a:r>
              <a:rPr lang="sv-SE" dirty="0">
                <a:solidFill>
                  <a:schemeClr val="bg1"/>
                </a:solidFill>
              </a:rPr>
              <a:t>Texter kan manipuleras</a:t>
            </a:r>
          </a:p>
          <a:p>
            <a:r>
              <a:rPr lang="sv-SE" dirty="0">
                <a:solidFill>
                  <a:schemeClr val="bg1"/>
                </a:solidFill>
              </a:rPr>
              <a:t>Information i </a:t>
            </a:r>
            <a:r>
              <a:rPr lang="sv-SE" dirty="0" err="1">
                <a:solidFill>
                  <a:schemeClr val="bg1"/>
                </a:solidFill>
              </a:rPr>
              <a:t>missing</a:t>
            </a:r>
            <a:r>
              <a:rPr lang="sv-SE" dirty="0">
                <a:solidFill>
                  <a:schemeClr val="bg1"/>
                </a:solidFill>
              </a:rPr>
              <a:t> </a:t>
            </a:r>
            <a:r>
              <a:rPr lang="sv-SE" dirty="0" err="1">
                <a:solidFill>
                  <a:schemeClr val="bg1"/>
                </a:solidFill>
              </a:rPr>
              <a:t>values</a:t>
            </a:r>
            <a:r>
              <a:rPr lang="sv-SE" dirty="0">
                <a:solidFill>
                  <a:schemeClr val="bg1"/>
                </a:solidFill>
              </a:rPr>
              <a:t> (T.ex. ”Most </a:t>
            </a:r>
            <a:r>
              <a:rPr lang="sv-SE" dirty="0" err="1">
                <a:solidFill>
                  <a:schemeClr val="bg1"/>
                </a:solidFill>
              </a:rPr>
              <a:t>frequent</a:t>
            </a:r>
            <a:r>
              <a:rPr lang="sv-SE" dirty="0">
                <a:solidFill>
                  <a:schemeClr val="bg1"/>
                </a:solidFill>
              </a:rPr>
              <a:t>” vs ”</a:t>
            </a:r>
            <a:r>
              <a:rPr lang="sv-SE" dirty="0" err="1">
                <a:solidFill>
                  <a:schemeClr val="bg1"/>
                </a:solidFill>
              </a:rPr>
              <a:t>Missing</a:t>
            </a:r>
            <a:r>
              <a:rPr lang="sv-SE" dirty="0">
                <a:solidFill>
                  <a:schemeClr val="bg1"/>
                </a:solidFill>
              </a:rPr>
              <a:t> </a:t>
            </a:r>
            <a:r>
              <a:rPr lang="sv-SE" dirty="0" err="1">
                <a:solidFill>
                  <a:schemeClr val="bg1"/>
                </a:solidFill>
              </a:rPr>
              <a:t>Value</a:t>
            </a:r>
            <a:r>
              <a:rPr lang="sv-SE" dirty="0">
                <a:solidFill>
                  <a:schemeClr val="bg1"/>
                </a:solidFill>
              </a:rPr>
              <a:t>”)</a:t>
            </a:r>
          </a:p>
          <a:p>
            <a:r>
              <a:rPr lang="sv-SE" dirty="0">
                <a:solidFill>
                  <a:schemeClr val="bg1"/>
                </a:solidFill>
              </a:rPr>
              <a:t>Försämring av ranking över tiden</a:t>
            </a:r>
          </a:p>
          <a:p>
            <a:pPr marL="0" indent="0">
              <a:buNone/>
            </a:pPr>
            <a:r>
              <a:rPr lang="sv-SE" b="1" dirty="0">
                <a:solidFill>
                  <a:schemeClr val="bg1"/>
                </a:solidFill>
              </a:rPr>
              <a:t>Plan för att upptäcka när modellen blir sämre:</a:t>
            </a:r>
          </a:p>
          <a:p>
            <a:r>
              <a:rPr lang="sv-SE" dirty="0">
                <a:solidFill>
                  <a:schemeClr val="bg1"/>
                </a:solidFill>
              </a:rPr>
              <a:t>Övervaka:</a:t>
            </a:r>
          </a:p>
          <a:p>
            <a:pPr lvl="1"/>
            <a:r>
              <a:rPr lang="sv-SE" dirty="0" err="1">
                <a:solidFill>
                  <a:schemeClr val="bg1"/>
                </a:solidFill>
              </a:rPr>
              <a:t>Prediction</a:t>
            </a:r>
            <a:r>
              <a:rPr lang="sv-SE" dirty="0">
                <a:solidFill>
                  <a:schemeClr val="bg1"/>
                </a:solidFill>
              </a:rPr>
              <a:t> drift (Distribution)</a:t>
            </a:r>
          </a:p>
          <a:p>
            <a:pPr lvl="1"/>
            <a:r>
              <a:rPr lang="sv-SE" dirty="0">
                <a:solidFill>
                  <a:schemeClr val="bg1"/>
                </a:solidFill>
              </a:rPr>
              <a:t>Risk distribution@Top‑50</a:t>
            </a:r>
          </a:p>
          <a:p>
            <a:r>
              <a:rPr lang="sv-SE" dirty="0">
                <a:solidFill>
                  <a:schemeClr val="bg1"/>
                </a:solidFill>
              </a:rPr>
              <a:t>Larma om riskfördelningen ändras kraftigt</a:t>
            </a:r>
          </a:p>
          <a:p>
            <a:r>
              <a:rPr lang="sv-SE" dirty="0">
                <a:solidFill>
                  <a:schemeClr val="bg1"/>
                </a:solidFill>
              </a:rPr>
              <a:t>Regelbunden </a:t>
            </a:r>
            <a:r>
              <a:rPr lang="sv-SE" dirty="0" err="1">
                <a:solidFill>
                  <a:schemeClr val="bg1"/>
                </a:solidFill>
              </a:rPr>
              <a:t>retraining</a:t>
            </a:r>
            <a:r>
              <a:rPr lang="sv-SE" dirty="0">
                <a:solidFill>
                  <a:schemeClr val="bg1"/>
                </a:solidFill>
              </a:rPr>
              <a:t> med färsk data</a:t>
            </a:r>
          </a:p>
          <a:p>
            <a:endParaRPr lang="sv-S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64159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aket">
  <a:themeElements>
    <a:clrScheme name="Paket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ke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ket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75945ce-2ee0-4503-ba90-6fb4a03b8c30}" enabled="0" method="" siteId="{575945ce-2ee0-4503-ba90-6fb4a03b8c3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TM10001115[[fn=Paket]]</Template>
  <TotalTime>295</TotalTime>
  <Words>779</Words>
  <Application>Microsoft Office PowerPoint</Application>
  <PresentationFormat>Widescreen</PresentationFormat>
  <Paragraphs>110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Gill Sans MT</vt:lpstr>
      <vt:lpstr>Paket</vt:lpstr>
      <vt:lpstr> Fraud Detection Model – Marketplace Safety Modellering, utvärdering och prioritering av misstänkta annonser </vt:lpstr>
      <vt:lpstr>Företaget, problemet &amp; kravkort </vt:lpstr>
      <vt:lpstr>Data-insikter (EDA) &amp; Risker</vt:lpstr>
      <vt:lpstr>Pipeline &amp; utvärdering (robusthet + leakage‑skydd)</vt:lpstr>
      <vt:lpstr>Modelljämförelse</vt:lpstr>
      <vt:lpstr>Vald modell + tuning </vt:lpstr>
      <vt:lpstr>Prioritering &amp; konsekvenser (kopplat till kravkortet)</vt:lpstr>
      <vt:lpstr>Prediktioner på ny data (drift-test)</vt:lpstr>
      <vt:lpstr>Risker, begräsningar &amp; nästa steg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 Rydén</dc:creator>
  <cp:lastModifiedBy>Wendy Mermet</cp:lastModifiedBy>
  <cp:revision>7</cp:revision>
  <dcterms:created xsi:type="dcterms:W3CDTF">2026-03-17T10:06:24Z</dcterms:created>
  <dcterms:modified xsi:type="dcterms:W3CDTF">2026-03-19T10:23:21Z</dcterms:modified>
</cp:coreProperties>
</file>